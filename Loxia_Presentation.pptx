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99832" y="0"/>
            <a:ext cx="4389120" cy="68580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99832" y="0"/>
            <a:ext cx="25400" cy="68580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91840"/>
            <a:ext cx="7799832" cy="254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256032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PROJET PÉDAGOGIQUE · ÉCOLE D'INGÉNIEUR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0" b="1" i="0">
                <a:solidFill>
                  <a:srgbClr val="FFFFFF"/>
                </a:solidFill>
                <a:latin typeface="Segoe UI"/>
              </a:rPr>
              <a:t>Loxia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8328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  <a:latin typeface="Segoe UI"/>
              </a:rPr>
              <a:t>Plateforme de location immobilière
en architecture microservices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337560"/>
            <a:ext cx="10972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13716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89BFF"/>
                </a:solidFill>
                <a:latin typeface="Segoe UI"/>
              </a:rPr>
              <a:t>🎓  Architecture Logicielle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18470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⚙️  Java 21 · Spring Boot · React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232257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🐳  Docker Compose · Microservices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79806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0B981"/>
                </a:solidFill>
                <a:latin typeface="Segoe UI"/>
              </a:rPr>
              <a:t>👥  6 étudiants ingénieurs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Segoe UI"/>
              </a:rPr>
              <a:t>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Plan de la présentation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9496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73152" cy="475488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26187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9BFF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8016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Contexte &amp; objectifs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39496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73152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26187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28016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Périmètre fonctionnel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73936"/>
            <a:ext cx="539496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73152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18470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86537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Architecture globale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773936"/>
            <a:ext cx="539496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773936"/>
            <a:ext cx="73152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8470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86537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Stack technique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359152"/>
            <a:ext cx="539496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359152"/>
            <a:ext cx="73152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43230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45059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Sécurité &amp; authentification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359152"/>
            <a:ext cx="539496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359152"/>
            <a:ext cx="73152" cy="475488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243230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9BFF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45059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Communication inter-services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44368"/>
            <a:ext cx="539496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2944368"/>
            <a:ext cx="73152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01752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Segoe U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03580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Infrastructure Docker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944368"/>
            <a:ext cx="539496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2944368"/>
            <a:ext cx="73152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301752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Segoe U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03580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Décisions architecturales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529584"/>
            <a:ext cx="539496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529584"/>
            <a:ext cx="73152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360273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Segoe U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36210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Démonstration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529584"/>
            <a:ext cx="539496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3529584"/>
            <a:ext cx="73152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360273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Segoe U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36210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Bilan &amp; enseignements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L'équipe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6 étudiants ingénieurs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88720"/>
            <a:ext cx="3566160" cy="11887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188720"/>
            <a:ext cx="35661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" y="1389888"/>
            <a:ext cx="5669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38988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3898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Ugo Durand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556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Back-end &amp; DevOps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78224" y="1188720"/>
            <a:ext cx="3566160" cy="11887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78224" y="1188720"/>
            <a:ext cx="35661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816" y="1389888"/>
            <a:ext cx="5669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2816" y="138988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JO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13898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Jonas Obrun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17556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Back-end (catalog, rental)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0416" y="1188720"/>
            <a:ext cx="3566160" cy="11887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0416" y="1188720"/>
            <a:ext cx="35661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1389888"/>
            <a:ext cx="5669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138988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NR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1664" y="13898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Nicolas Ramirez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1664" y="17556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Back-end (auth, gateway)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2633472"/>
            <a:ext cx="3566160" cy="11887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2633472"/>
            <a:ext cx="35661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" y="2834640"/>
            <a:ext cx="5669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283464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CG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28346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Cyril Grosjean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2004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Back-end &amp; intégration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78224" y="2633472"/>
            <a:ext cx="3566160" cy="11887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78224" y="2633472"/>
            <a:ext cx="35661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42816" y="2834640"/>
            <a:ext cx="5669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2816" y="283464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9472" y="28346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Ibrahim Khan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9472" y="32004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Front-end React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00416" y="2633472"/>
            <a:ext cx="3566160" cy="11887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00416" y="2633472"/>
            <a:ext cx="35661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65008" y="2834640"/>
            <a:ext cx="56692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5008" y="283464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41664" y="28346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Tarek El Missiry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41664" y="32004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Front-end &amp;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Contexte &amp; objectifs pédagogiques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9BFF"/>
                </a:solidFill>
                <a:latin typeface="Segoe UI"/>
              </a:rPr>
              <a:t>Le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Loxia est une plateforme web de location de logements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7850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développée dans le cadre d'un cours d'architecture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2082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logicielle. Elle met en relation locataires et propriétaires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6314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via une interface moderne et une API distribuée.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0545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74777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Périmètre : fonctionnel complet, hors paiement / chat 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99008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Segoe UI"/>
              </a:rPr>
              <a:t>upload réel / cartographie.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143000"/>
            <a:ext cx="5943600" cy="6858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143000"/>
            <a:ext cx="38100" cy="6858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1978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🎯  Bounded contexts DDD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4721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4 microservices métier avec responsabilités cloisonnées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892808"/>
            <a:ext cx="5943600" cy="6858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892808"/>
            <a:ext cx="38100" cy="6858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947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🔐  Auth centralisée JWT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21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Signée par auth-service, validée uniquement à la gateway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642616"/>
            <a:ext cx="5943600" cy="6858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2642616"/>
            <a:ext cx="38100" cy="6858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697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🔗  Communication 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971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Spring RestClient, timeouts, fail-safe &amp; degradation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392424"/>
            <a:ext cx="5943600" cy="6858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3392424"/>
            <a:ext cx="38100" cy="6858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447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🗄️  Isolation des données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721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1 base PostgreSQL par service, aucune jointure cross-svc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4142232"/>
            <a:ext cx="5943600" cy="6858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4142232"/>
            <a:ext cx="38100" cy="6858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1970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🐳  Conteneurisation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4714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Docker Compose, multi-stage builds, healthchecks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892040"/>
            <a:ext cx="5943600" cy="6858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4892040"/>
            <a:ext cx="38100" cy="6858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49469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⚛️  Front découplé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2212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Segoe UI"/>
              </a:rPr>
              <a:t>React + TypeScript + TanStack Query + Zustand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Périmètre fonctionnel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Ce que l'application fait réellement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23560" cy="5669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8100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5272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🔍  Recherche &amp; filtres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499616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Filtres ville, type de bien, budget min/max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623560" cy="5669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38100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5272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🏠  Détail d'une annonce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99616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Photos, surface, pièces, prix, description, propriétaire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47088"/>
            <a:ext cx="5623560" cy="5669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847088"/>
            <a:ext cx="38100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91109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📝  Dépôt de candidature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157984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Revenus, situation pro, message personnalisé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847088"/>
            <a:ext cx="5623560" cy="5669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847088"/>
            <a:ext cx="38100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91109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📊  Dashboard locataire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157984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Suivi des candidatures : En attente / Validé / Refusé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05456"/>
            <a:ext cx="5623560" cy="5669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505456"/>
            <a:ext cx="38100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569464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✏️  Création d'annonce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816352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Formulaire complet côté propriétaire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505456"/>
            <a:ext cx="5623560" cy="5669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2505456"/>
            <a:ext cx="38100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2569464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🔒  Règle de verrouillage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816352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Annonce non modifiable si candidature PENDING/ACCEPTED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163824"/>
            <a:ext cx="5623560" cy="5669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163824"/>
            <a:ext cx="38100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22783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📥  Dashboard propriétaire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474720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Réception et traitement des candidatures (accept/reject)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163824"/>
            <a:ext cx="5623560" cy="5669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3163824"/>
            <a:ext cx="38100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22783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🔔  Notifications in-app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474720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Cloche, compteur non lus, marquage lu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822192"/>
            <a:ext cx="5623560" cy="5669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3822192"/>
            <a:ext cx="38100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886200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👤  Compte unifié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4133088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Même compte → toggle Locataire / Propriétaire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822192"/>
            <a:ext cx="5623560" cy="56692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3822192"/>
            <a:ext cx="38100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3886200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🔑  Auth complète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133088"/>
            <a:ext cx="5440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Inscription, connexion, refresh JWT, déconnexion, profil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Architecture globale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4 microservices + Gateway + Frontend React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2743200" cy="658368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09728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89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React · Vite · TypeScript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755648"/>
            <a:ext cx="25400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8013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HTTPS/REST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167128"/>
            <a:ext cx="3840480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1671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API Gateway  :8080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48716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Spring Cloud Gateway · JWT Validation · CORS · Routing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916936"/>
            <a:ext cx="2540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374136"/>
            <a:ext cx="2560320" cy="100584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1985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auth-service
:8081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962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Identité
JWT · Profil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374136"/>
            <a:ext cx="25603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341985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catalog-service
:8082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84962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Annonces
CRUD · Recherche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374136"/>
            <a:ext cx="256032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41985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rental-service
:8083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84962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Candidatures
Lock rule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3374136"/>
            <a:ext cx="256032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341985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notification-
service :8084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84962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Notifications
In-app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40" y="4379976"/>
            <a:ext cx="2540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892040"/>
            <a:ext cx="2560320" cy="566928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892040"/>
            <a:ext cx="2560320" cy="381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0017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🗄  auth_db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4379976"/>
            <a:ext cx="2540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0" y="4892040"/>
            <a:ext cx="2560320" cy="566928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0" y="4892040"/>
            <a:ext cx="25603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50017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🗄  catalog_db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4379976"/>
            <a:ext cx="2540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4892040"/>
            <a:ext cx="2560320" cy="566928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0" y="4892040"/>
            <a:ext cx="25603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50017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🗄  rental_db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21240" y="4379976"/>
            <a:ext cx="2540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86800" y="4892040"/>
            <a:ext cx="2560320" cy="566928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86800" y="4892040"/>
            <a:ext cx="25603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50017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🗄  notification_db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17520" y="5623560"/>
            <a:ext cx="6217920" cy="38404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17520" y="5623560"/>
            <a:ext cx="38100" cy="38404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54680" y="566928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PostgreSQL 16 — conteneur unique  loxia-db  (4 bases isolées)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480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Segoe UI"/>
              </a:rPr>
              <a:t>◄──────────────────────► REST sync  (lock check / owner enrichment / notifications)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Les 4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Bounded contexts, endpoints, entités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2788920" cy="51206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2788920" cy="438912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9786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auth-service  :8081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64592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Segoe UI"/>
              </a:rPr>
              <a:t>Identité &amp; authentification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47672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9BFF"/>
                </a:solidFill>
                <a:latin typeface="Segoe UI"/>
              </a:rPr>
              <a:t>Entités : User, RefreshToken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94560"/>
            <a:ext cx="2606040" cy="127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258568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Endpoints exposés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32888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2560320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POST  /api/auth/register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43784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871216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POST  /api/auth/login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54680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3182112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POST  /api/auth/refresh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65576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3493008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GET   /api/auth/me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76472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3803904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PUT   /api/auth/me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1143000"/>
            <a:ext cx="2788920" cy="51206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1143000"/>
            <a:ext cx="2788920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119786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catalog-service  :8082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164592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Segoe UI"/>
              </a:rPr>
              <a:t>Annonces immobilières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1947672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Segoe UI"/>
              </a:rPr>
              <a:t>Entités : Listing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2194560"/>
            <a:ext cx="2606040" cy="127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2258568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Endpoints exposés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2532888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64992" y="2560320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GET   /api/listings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2843784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64992" y="2871216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GET   /api/listings/{id}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3154680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4992" y="3182112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GET   /api/listings/mine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3465576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64992" y="3493008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POST  /api/listings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3776472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64992" y="3803904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PUT   /api/listings/{id}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4087368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64992" y="4114800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DELETE /api/listings/{id}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1143000"/>
            <a:ext cx="2788920" cy="51206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1143000"/>
            <a:ext cx="278892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119786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rental-service  :8083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164592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Segoe UI"/>
              </a:rPr>
              <a:t>Candidatures &amp; cycle de location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1947672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Segoe UI"/>
              </a:rPr>
              <a:t>Entités : Application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2194560"/>
            <a:ext cx="2606040" cy="127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2258568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Endpoints exposés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2532888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36792" y="2560320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POST  /api/applications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2843784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36792" y="2871216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GET   /api/applications/mine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3154680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36792" y="3182112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GET   /api/applications/received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3465576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36792" y="3493008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POST  /api/applications/{id}/accept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3640" y="3776472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36792" y="3803904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POST  /api/applications/{id}/reject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0" y="1143000"/>
            <a:ext cx="2788920" cy="51206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144000" y="1143000"/>
            <a:ext cx="2788920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35440" y="119786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notification-service  :8084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164592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Segoe UI"/>
              </a:rPr>
              <a:t>Notifications in-app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1947672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Segoe UI"/>
              </a:rPr>
              <a:t>Entités : Notification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35440" y="2194560"/>
            <a:ext cx="2606040" cy="127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35440" y="2258568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Endpoints exposés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35440" y="2532888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08592" y="2560320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GET   /api/notifications/mine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35440" y="2843784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08592" y="2871216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GET   /api/notifications/unread-count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35440" y="3154680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308592" y="3182112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POST  /api/notifications/{id}/read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35440" y="3465576"/>
            <a:ext cx="2606040" cy="27432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08592" y="3493008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POST  /api/notifications/read-all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Stack technique —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Java 21 · Spring Boot 3.3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38100" cy="484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☕  Java 21 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43560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Version LTS courante avec Virtual Threads (Project Loom)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70432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170432"/>
            <a:ext cx="38100" cy="484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0700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🌿  Spring Boot 3.3.x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3560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Framework de référence, Spring MVC, Security 6, Data JPA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46504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746504"/>
            <a:ext cx="38100" cy="484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78308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⚙️  Maven + Parent POM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0116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Multi-module build, versioning centralisé des dépendances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746504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746504"/>
            <a:ext cx="38100" cy="484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78308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🔐  JWT HS256 (jjwt)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0116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Access token 15 min · Refresh token 7 jours (hashé BCrypt)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22576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322576"/>
            <a:ext cx="38100" cy="484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3591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🗄️  Spring Data JPA + Flyway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58775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ORM Hibernate + migrations versionnées par 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322576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2322576"/>
            <a:ext cx="38100" cy="484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23591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🔗  Spring RestClient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58775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HTTP client synchrone pour les appels inter-services (Spring 6.1+)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898648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2898648"/>
            <a:ext cx="38100" cy="484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93522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✅  Jakarta Bean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16382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Validation des DTO en entrée (@NotBlank, @Min, @Email…)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898648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2898648"/>
            <a:ext cx="38100" cy="484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293522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📖  springdoc-openapi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16382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Swagger UI auto-généré par service (/swagger-ui.html)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474720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3474720"/>
            <a:ext cx="38100" cy="484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51129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🧪  JUnit 5 + Mockito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373989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Tests unitaires sur la logique métier critique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474720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3474720"/>
            <a:ext cx="38100" cy="484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351129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📌  Lombok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73989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@Slf4j, @Data, @Builder, @RequiredArgsConstructor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Stack technique —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React 18 · TypeScript · Tailwind CSS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38100" cy="484632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⚛️  React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43560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Composants fonctionnels, hooks, rendu concurrent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70432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170432"/>
            <a:ext cx="38100" cy="484632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0700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⚡  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3560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Build ultra-rapide, HMR instantané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46504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746504"/>
            <a:ext cx="38100" cy="484632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78308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🔷  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0116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Typage strict, interfaces pour tous les DTO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746504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746504"/>
            <a:ext cx="38100" cy="484632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78308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🎨  Tailwind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01168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Utility-first CSS, responsive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22576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322576"/>
            <a:ext cx="38100" cy="484632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3591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🧩  shadcn/ui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58775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Composants UI accessibles et customisables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322576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2322576"/>
            <a:ext cx="38100" cy="484632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23591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🔄  TanStack Query v5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58775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Fetching, cache, mutation — tout côté serveur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898648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2898648"/>
            <a:ext cx="38100" cy="484632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93522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🐻  Zustand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16382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State global client : auth, rôle UI actif (locataire/propriétaire)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898648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2898648"/>
            <a:ext cx="38100" cy="484632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293522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📡  Axios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16382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HTTP client avec intercepteur JWT et refresh automatique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474720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3474720"/>
            <a:ext cx="38100" cy="484632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51129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📋  React Hook 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373989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Formulaires performants + validation Zod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474720"/>
            <a:ext cx="5577840" cy="484632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3474720"/>
            <a:ext cx="38100" cy="484632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351129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🛣️  React Router v6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73989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Routing SPA, routes protégées, redirect on auth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Sécurité &amp; authentification JWT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Modèle gateway-centric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303520" cy="493776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8100" cy="4937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252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Segoe UI"/>
              </a:rPr>
              <a:t>Algorithme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2252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HS256, clé partagée via JWT_SECRET (env var)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19072"/>
            <a:ext cx="5303520" cy="493776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719072"/>
            <a:ext cx="38100" cy="4937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5564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Segoe UI"/>
              </a:rPr>
              <a:t>Access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7556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Durée : 15 minutes · Claims : sub, email, fullName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49424"/>
            <a:ext cx="5303520" cy="493776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249424"/>
            <a:ext cx="38100" cy="4937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8600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Segoe UI"/>
              </a:rPr>
              <a:t>Refresh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2860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Durée : 7 jours · Stocké hashé SHA-256 en 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779776"/>
            <a:ext cx="5303520" cy="493776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779776"/>
            <a:ext cx="38100" cy="4937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81635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Segoe UI"/>
              </a:rPr>
              <a:t>Rotation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28163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Chaque refresh révoque l'ancien token (one-time use)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310128"/>
            <a:ext cx="5303520" cy="493776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310128"/>
            <a:ext cx="38100" cy="4937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4670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Segoe UI"/>
              </a:rP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3467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Uniquement à la gateway (GlobalFilter)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840480"/>
            <a:ext cx="5303520" cy="493776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840480"/>
            <a:ext cx="38100" cy="4937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87705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Segoe UI"/>
              </a:rPr>
              <a:t>Propagation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38770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X-User-Id, X-User-Email, X-User-FullName → services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370832"/>
            <a:ext cx="5303520" cy="493776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370832"/>
            <a:ext cx="38100" cy="4937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40740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Segoe UI"/>
              </a:rPr>
              <a:t>Services down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440740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Aucune re-validation → font confiance aux headers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901184"/>
            <a:ext cx="5303520" cy="493776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901184"/>
            <a:ext cx="38100" cy="4937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93776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Segoe UI"/>
              </a:rPr>
              <a:t>Protection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83080" y="49377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/internal/** bloqué explicitement (403) par la gateway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11430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Flux de 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1554480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F4444"/>
                </a:solidFill>
                <a:latin typeface="Segoe UI"/>
              </a:rPr>
              <a:t>1. Client → POST /api/auth/login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1796796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    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2039112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F4444"/>
                </a:solidFill>
                <a:latin typeface="Segoe UI"/>
              </a:rPr>
              <a:t>2. auth-service → génère access + refresh tokens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2281428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    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2523744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9E0B"/>
                </a:solidFill>
                <a:latin typeface="Segoe UI"/>
              </a:rPr>
              <a:t>3. Client stocke les tokens (localStorage)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2766060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    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3008376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9E0B"/>
                </a:solidFill>
                <a:latin typeface="Segoe UI"/>
              </a:rPr>
              <a:t>4. Requête authentifiée → Authorization: Bearer &lt;token&gt;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3250692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    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3493008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C3AED"/>
                </a:solidFill>
                <a:latin typeface="Segoe UI"/>
              </a:rPr>
              <a:t>5. Gateway → valide la signature HS256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3735324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    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3977640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C3AED"/>
                </a:solidFill>
                <a:latin typeface="Segoe UI"/>
              </a:rPr>
              <a:t>6. Gateway → propage X-User-Id, X-User-Email, X-User-FullName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219956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    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4462272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0B981"/>
                </a:solidFill>
                <a:latin typeface="Segoe UI"/>
              </a:rPr>
              <a:t>7. Service downstream → utilise headers (pas de re-validation)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4704588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    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4946904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89BFF"/>
                </a:solidFill>
                <a:latin typeface="Segoe UI"/>
              </a:rPr>
              <a:t>8. Token expiré → Axios interceptor → POST /api/auth/refresh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Communication inter-services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REST synchrone · Spring RestClient · Timeouts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03320" cy="21488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7033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6294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catalog-service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3780" y="1252728"/>
            <a:ext cx="55549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───────►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9278" y="1234440"/>
            <a:ext cx="140726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Segoe UI"/>
              </a:rPr>
              <a:t>rental-service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54480"/>
            <a:ext cx="3520440" cy="127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4592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Segoe UI"/>
              </a:rPr>
              <a:t>Endpoint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64592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GET /internal/applications/listing/{id}/locked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92024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Segoe UI"/>
              </a:rPr>
              <a:t>Déclencheur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9202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PUT ou DELETE /api/listings/{id}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1945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Segoe UI"/>
              </a:rPr>
              <a:t>Timeout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9456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3 secondes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4688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Segoe UI"/>
              </a:rPr>
              <a:t>Comportement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46888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Fail-safe : bloque si rental down (timeout 3s)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74320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Segoe UI"/>
              </a:rPr>
              <a:t>Objectif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4320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Règle de verrouillage — annonce non modifiable si candidature en cours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1143000"/>
            <a:ext cx="3703320" cy="21488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1143000"/>
            <a:ext cx="3703320" cy="381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1234440"/>
            <a:ext cx="16294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9BFF"/>
                </a:solidFill>
                <a:latin typeface="Segoe UI"/>
              </a:rPr>
              <a:t>catalog-service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89980" y="1252728"/>
            <a:ext cx="55549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───────►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478" y="1234440"/>
            <a:ext cx="140726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9BFF"/>
                </a:solidFill>
                <a:latin typeface="Segoe UI"/>
              </a:rPr>
              <a:t>auth-service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1554480"/>
            <a:ext cx="3520440" cy="127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164592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9BFF"/>
                </a:solidFill>
                <a:latin typeface="Segoe UI"/>
              </a:rPr>
              <a:t>Endpoint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164592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GET /internal/users/{id}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192024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9BFF"/>
                </a:solidFill>
                <a:latin typeface="Segoe UI"/>
              </a:rPr>
              <a:t>Déclencheur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19202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GET /api/listings/{id}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21945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9BFF"/>
                </a:solidFill>
                <a:latin typeface="Segoe UI"/>
              </a:rPr>
              <a:t>Timeout 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219456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3 secondes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24688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9BFF"/>
                </a:solidFill>
                <a:latin typeface="Segoe UI"/>
              </a:rPr>
              <a:t>Comportement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246888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Graceful degradation : ownerName = null si auth down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274320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9BFF"/>
                </a:solidFill>
                <a:latin typeface="Segoe UI"/>
              </a:rPr>
              <a:t>Objectif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274320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Enrichissement du nom du propriétaire dans le détail d'annonce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1143000"/>
            <a:ext cx="3703320" cy="214884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1143000"/>
            <a:ext cx="37033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1234440"/>
            <a:ext cx="16294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Segoe UI"/>
              </a:rPr>
              <a:t>rental-service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6180" y="1252728"/>
            <a:ext cx="55549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───────►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31678" y="1234440"/>
            <a:ext cx="140726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Segoe UI"/>
              </a:rPr>
              <a:t>notification-service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1554480"/>
            <a:ext cx="3520440" cy="127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164592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Segoe UI"/>
              </a:rPr>
              <a:t>Endpoint 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164592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POST /internal/notifications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192024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Segoe UI"/>
              </a:rPr>
              <a:t>Déclencheur 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19202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accept ou reject candidature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80" y="21945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Segoe UI"/>
              </a:rPr>
              <a:t>Timeout 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219456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3 secondes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80" y="24688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Segoe UI"/>
              </a:rPr>
              <a:t>Comportement 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246888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Graceful degradation : notif perdue, transition réussit quand même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274320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Segoe UI"/>
              </a:rPr>
              <a:t>Objectif 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274320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Informer le locataire de la décision du propriétaire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429000"/>
            <a:ext cx="11612880" cy="59436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3429000"/>
            <a:ext cx="381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34747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Segoe UI"/>
              </a:rPr>
              <a:t>Optimisation batch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31720" y="347472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POST /internal/applications/locks  (catalog → rental)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31720" y="3712463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→ Vérification en une seule requête pour N annonces (liste). Réduit le nombre d'appels sur les pages listant plusieurs annonces.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160520"/>
            <a:ext cx="11612880" cy="50292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206240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Choix architectural : REST synchrone uniquement (pas de Kafka/RabbitMQ).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4443984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Trade-off délibéré : simplicité d'infrastructure pour un projet pédagogique. Les flows sont peu nombreux (3 flux) et la latence acceptable.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Règle métier : le verrouillage d'annonce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La règle star du projet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804672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080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Segoe UI"/>
              </a:rPr>
              <a:t>📋  Définition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Une annonce ayant au moins une candidature PENDING ou ACCEPTED ne peut être ni modifiée (PUT) ni supprimée (DELETE).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057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Flux — PUT /api/listings/{id} avec annonce verrouillée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23160"/>
            <a:ext cx="11612880" cy="402336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38100" cy="402336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49631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9BFF"/>
                </a:solidFill>
                <a:latin typeface="Segoe UI"/>
              </a:rPr>
              <a:t>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96312"/>
            <a:ext cx="9235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PUT /api/listings/{id}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52928"/>
            <a:ext cx="11612880" cy="402336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52928"/>
            <a:ext cx="3810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9260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926080"/>
            <a:ext cx="9235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Valide JWT · propage X-User-Id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82696"/>
            <a:ext cx="11612880" cy="402336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282696"/>
            <a:ext cx="38100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3558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catalog-service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355848"/>
            <a:ext cx="9235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Vérifie ownership (listing.ownerId == X-User-Id)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12464"/>
            <a:ext cx="11612880" cy="402336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712464"/>
            <a:ext cx="3810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78561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→ rental-service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785616"/>
            <a:ext cx="9235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GET /internal/applications/listing/{id}/locked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142232"/>
            <a:ext cx="11612880" cy="402336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142232"/>
            <a:ext cx="3810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21538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← rental-service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215384"/>
            <a:ext cx="9235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{ locked: true }   (candidature PENDING détectée)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572000"/>
            <a:ext cx="11612880" cy="402336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572000"/>
            <a:ext cx="38100" cy="4023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64515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Segoe UI"/>
              </a:rPr>
              <a:t>catalog-service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4645152"/>
            <a:ext cx="9235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Rejette la modification → 409 Conflict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01768"/>
            <a:ext cx="11612880" cy="402336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5001768"/>
            <a:ext cx="38100" cy="4023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07492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Segoe UI"/>
              </a:rPr>
              <a:t>Client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5074920"/>
            <a:ext cx="9235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Reçoit 409 · l'UI affiche un message explicite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532120"/>
            <a:ext cx="11612880" cy="512064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5532120"/>
            <a:ext cx="50800" cy="5120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57784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Segoe UI"/>
              </a:rPr>
              <a:t>⚠️  Fail-safe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557784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Segoe UI"/>
              </a:rPr>
              <a:t>Si rental-service ne répond pas (timeout 3s) → catalog bloque quand même la modification. Mieux vaut refuser une opération légitime que permettre une modification sur un état inconnu.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Infrastructure 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8 conteneurs, 3 ports exposés, healthchecks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33856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887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Conteneur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11887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188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Port hôte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9552" y="11887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4352" y="11887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90472"/>
            <a:ext cx="11338560" cy="4572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6002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loxia-db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16002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postgres:16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160020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9552" y="160020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Base de données PostgreSQL (4 bases)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947672"/>
            <a:ext cx="11338560" cy="45720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0574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pgadmin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20574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dpage/pgadmin4:8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205740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Segoe UI"/>
              </a:rPr>
              <a:t>8090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9552" y="205740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Interface admin BD (dev only)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04872"/>
            <a:ext cx="11338560" cy="4572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5146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89BFF"/>
                </a:solidFill>
                <a:latin typeface="Segoe UI"/>
              </a:rPr>
              <a:t>auth-service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25146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build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251460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9552" y="251460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Port interne 8081 uniquement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862072"/>
            <a:ext cx="11338560" cy="45720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29718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Segoe UI"/>
              </a:rPr>
              <a:t>catalog-service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29718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build local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297180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9552" y="297180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Port interne 8082 uniquement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319272"/>
            <a:ext cx="11338560" cy="4572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34290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Segoe UI"/>
              </a:rPr>
              <a:t>rental-service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2032" y="34290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build local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342900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9552" y="342900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Port interne 8083 uniquement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776472"/>
            <a:ext cx="11338560" cy="45720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38862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Segoe UI"/>
              </a:rPr>
              <a:t>notification-service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2032" y="38862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build local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52" y="388620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9552" y="388620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Port interne 8084 uniquement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233672"/>
            <a:ext cx="11338560" cy="4572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43434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C3AED"/>
                </a:solidFill>
                <a:latin typeface="Segoe UI"/>
              </a:rPr>
              <a:t>gateway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42032" y="43434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build local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45152" y="434340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Segoe UI"/>
              </a:rPr>
              <a:t>8080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9552" y="434340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Seul point d'entrée HTTP public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690872"/>
            <a:ext cx="11338560" cy="45720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" y="48006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89BFF"/>
                </a:solidFill>
                <a:latin typeface="Segoe UI"/>
              </a:rPr>
              <a:t>frontend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42032" y="48006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build local (Nginx)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45152" y="480060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Segoe UI"/>
              </a:rPr>
              <a:t>3000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9552" y="480060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Sert le build React statique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349240"/>
            <a:ext cx="11612880" cy="594360"/>
          </a:xfrm>
          <a:prstGeom prst="rect">
            <a:avLst/>
          </a:prstGeom>
          <a:solidFill>
            <a:srgbClr val="1E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5349240"/>
            <a:ext cx="5080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3949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Ordre de démarrage garanti via  depends_on: condition: service_healthy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562356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Segoe UI"/>
              </a:rPr>
              <a:t>loxia-db → {auth, catalog, rental, notification} → gateway → frontend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6053328"/>
            <a:ext cx="11612880" cy="50292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61264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Multi-stage Dockerfiles  —  Stage 1 : Maven build (JDK 21)  |  Stage 2 : JRE Alpine, user non-root loxia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Décisions architecturales clés (ADRs)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10 décisions documentées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557784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38100" cy="475488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07008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9BFF"/>
                </a:solidFill>
                <a:latin typeface="Segoe UI"/>
              </a:rPr>
              <a:t>ADR-001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07008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Java 21 + Spring Boot 3.3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426464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Standard de facto en entreprise · LTS · Virtual Threads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70432"/>
            <a:ext cx="557784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70432"/>
            <a:ext cx="3810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1207008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ADR-002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207008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4 microservices métier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1426464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Découpage DDD · autonomie par membre · périmètre maîtrisable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37360"/>
            <a:ext cx="557784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1737360"/>
            <a:ext cx="3810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1773936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Segoe UI"/>
              </a:rPr>
              <a:t>ADR-003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1773936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REST sync (pas de Kafka)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1993392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Infrastructure simple · 3 flux seulement · couplage temporel accepté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737360"/>
            <a:ext cx="557784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737360"/>
            <a:ext cx="38100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1773936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Segoe UI"/>
              </a:rPr>
              <a:t>ADR-004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1773936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Compte unifié (pas de rôles)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1993392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Un user peut louer ET posséder · auth contextuelle (ownership)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04288"/>
            <a:ext cx="557784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2304288"/>
            <a:ext cx="381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2340864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Segoe UI"/>
              </a:rPr>
              <a:t>ADR-005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2340864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JWT validé à la 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2560320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Pas de duplication de secret · isolation réseau Docker sécurise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304288"/>
            <a:ext cx="557784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2304288"/>
            <a:ext cx="38100" cy="475488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2340864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9BFF"/>
                </a:solidFill>
                <a:latin typeface="Segoe UI"/>
              </a:rPr>
              <a:t>ADR-006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340864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1 conteneur PostgreSQL, 4 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2560320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Isolation logique sans complexité opérationnelle de 4 conteneurs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871216"/>
            <a:ext cx="557784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2871216"/>
            <a:ext cx="3810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2907792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Segoe UI"/>
              </a:rPr>
              <a:t>ADR-007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2907792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Spring Cloud Gateway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3127248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Écosystème Spring cohérent · filtre JWT en Java · pédagogique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2871216"/>
            <a:ext cx="557784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2871216"/>
            <a:ext cx="3810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8" y="2907792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Segoe UI"/>
              </a:rPr>
              <a:t>ADR-008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2907792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DNS Docker Compose (pas Eureka)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6208" y="3127248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Instances stables → service discovery inutile pour ce scope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438144"/>
            <a:ext cx="557784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4320" y="3438144"/>
            <a:ext cx="38100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3474720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Segoe UI"/>
              </a:rPr>
              <a:t>ADR-009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3474720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Pas de Spring Cloud Config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3694176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1 environnement → 3 couches application.yml + profil + .env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438144"/>
            <a:ext cx="5577840" cy="475488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26480" y="3438144"/>
            <a:ext cx="3810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6208" y="3474720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Segoe UI"/>
              </a:rPr>
              <a:t>ADR-010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95160" y="3474720"/>
            <a:ext cx="4617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Fail-safe sur la règle de lock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36208" y="3694176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Bloquer si incertain → préférable à permettre un état corrompu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Dettes techniques &amp; risques connus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Trade-offs documentés et assumés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5532120" cy="86868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70432"/>
            <a:ext cx="38100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243584"/>
            <a:ext cx="1097280" cy="21945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261872"/>
            <a:ext cx="1078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DETTE CONNUE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22529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🔄  Race condition — règle de 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49961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Problème : Entre la vérification /locked et l'UPDATE, une candidature peut arriver.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73736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  <a:latin typeface="Segoe UI"/>
              </a:rPr>
              <a:t>Solution : Documentée. Solution : verrou applicatif ou Saga pattern.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170432"/>
            <a:ext cx="5532120" cy="86868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170432"/>
            <a:ext cx="38100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424160" y="1243584"/>
            <a:ext cx="1097280" cy="21945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42448" y="1261872"/>
            <a:ext cx="1078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DETTE CONNUE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22529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🍪  Refresh token en localStorage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49961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Problème : Vulnérable au XSS (vol de token côté client).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3736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  <a:latin typeface="Segoe UI"/>
              </a:rPr>
              <a:t>Solution : En prod : cookie HttpOnly SameSite=Strict.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76272"/>
            <a:ext cx="5532120" cy="86868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176272"/>
            <a:ext cx="38100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2249424"/>
            <a:ext cx="1097280" cy="21945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2267712"/>
            <a:ext cx="1078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DETTE CONNUE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23113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🔑  JWT HS256 avec secret partagé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50545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Problème : Si le secret fuit, n'importe qui peut forger un token.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74320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  <a:latin typeface="Segoe UI"/>
              </a:rPr>
              <a:t>Solution : En prod : RS256 + JWKS endpoint (clé asymétrique).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2176272"/>
            <a:ext cx="5532120" cy="86868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2176272"/>
            <a:ext cx="38100" cy="8686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24160" y="2249424"/>
            <a:ext cx="1097280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42448" y="2267712"/>
            <a:ext cx="1078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HORS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23113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🔍  Pas de tracing distribué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50545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Problème : Difficile de déboguer les appels en cascade entre services.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74320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  <a:latin typeface="Segoe UI"/>
              </a:rPr>
              <a:t>Solution : En prod : OpenTelemetry + Jaeger.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182112"/>
            <a:ext cx="5532120" cy="86868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3182112"/>
            <a:ext cx="3810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17720" y="3255264"/>
            <a:ext cx="1097280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36008" y="3273552"/>
            <a:ext cx="1078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ACCEPTABLE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323697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📦  Dérive DTO back/front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351129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Problème : Types partagés synchronisés manuellement dans frontend/src/types/.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374904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  <a:latin typeface="Segoe UI"/>
              </a:rPr>
              <a:t>Solution : En prod : génération automatique depuis OpenAPI spec.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3182112"/>
            <a:ext cx="5532120" cy="86868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80760" y="3182112"/>
            <a:ext cx="3810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24160" y="3255264"/>
            <a:ext cx="1097280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42448" y="3273552"/>
            <a:ext cx="1078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MITIGÉ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323697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🔗  Monolithe distribué potentiel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351129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Segoe UI"/>
              </a:rPr>
              <a:t>Problème : Chaîner 3 appels inter-services sur un seul endpoint.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374904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  <a:latin typeface="Segoe UI"/>
              </a:rPr>
              <a:t>Solution : Max 2 appels par endpoint · endpoints batch pour les listes.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Accueil — Vue Locataire (recherche + filtres)</a:t>
            </a:r>
          </a:p>
        </p:txBody>
      </p:sp>
      <p:pic>
        <p:nvPicPr>
          <p:cNvPr id="7" name="Picture 6" descr="Capture d'écran 2026-04-10 1136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4343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Détail d'une annonce (bouton Postuler)</a:t>
            </a:r>
          </a:p>
        </p:txBody>
      </p:sp>
      <p:pic>
        <p:nvPicPr>
          <p:cNvPr id="7" name="Picture 6" descr="Capture d'écran 2026-04-10 1137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6204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Formulaire de candidature</a:t>
            </a:r>
          </a:p>
        </p:txBody>
      </p:sp>
      <p:pic>
        <p:nvPicPr>
          <p:cNvPr id="7" name="Picture 6" descr="Capture d'écran 2026-04-10 1137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6353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Dashboard Propriétaire — Demandes reçues</a:t>
            </a:r>
          </a:p>
        </p:txBody>
      </p:sp>
      <p:pic>
        <p:nvPicPr>
          <p:cNvPr id="7" name="Picture 6" descr="Capture d'écran 2026-04-10 1137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6269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Création d'une annonce</a:t>
            </a:r>
          </a:p>
        </p:txBody>
      </p:sp>
      <p:pic>
        <p:nvPicPr>
          <p:cNvPr id="7" name="Picture 6" descr="Capture d'écran 2026-04-10 1137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5938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Dashboard Locataire — Mes candidatures</a:t>
            </a:r>
          </a:p>
        </p:txBody>
      </p:sp>
      <p:pic>
        <p:nvPicPr>
          <p:cNvPr id="7" name="Picture 6" descr="Capture d'écran 2026-04-10 1137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78826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Loxia en chiffres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651760" cy="201168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651760" cy="508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389BFF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Segoe UI"/>
              </a:rPr>
              <a:t>services
(4 métier + gateway)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234440"/>
            <a:ext cx="2651760" cy="201168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234440"/>
            <a:ext cx="265176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4173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10B981"/>
                </a:solidFill>
                <a:latin typeface="Segoe UI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774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Segoe UI"/>
              </a:rPr>
              <a:t>endpoints
exposés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2651760" cy="201168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34440"/>
            <a:ext cx="265176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7C3AED"/>
                </a:solidFill>
                <a:latin typeface="Segoe U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Segoe UI"/>
              </a:rPr>
              <a:t>endpoints
internes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234440"/>
            <a:ext cx="2651760" cy="201168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1234440"/>
            <a:ext cx="26517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4173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59E0B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3774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Segoe UI"/>
              </a:rPr>
              <a:t>bases de données
isolées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29000"/>
            <a:ext cx="2651760" cy="201168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429000"/>
            <a:ext cx="265176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EF4444"/>
                </a:solidFill>
                <a:latin typeface="Segoe U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Segoe UI"/>
              </a:rPr>
              <a:t>conteneurs
Docker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429000"/>
            <a:ext cx="2651760" cy="201168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3429000"/>
            <a:ext cx="2651760" cy="508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36118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389BFF"/>
                </a:solidFill>
                <a:latin typeface="Segoe UI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Segoe UI"/>
              </a:rPr>
              <a:t>ADRs
documentées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429000"/>
            <a:ext cx="2651760" cy="201168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429000"/>
            <a:ext cx="265176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6118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10B981"/>
                </a:solidFill>
                <a:latin typeface="Segoe UI"/>
              </a:rPr>
              <a:t>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Segoe UI"/>
              </a:rPr>
              <a:t>maquettes
de référence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3429000"/>
            <a:ext cx="2651760" cy="201168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81160" y="3429000"/>
            <a:ext cx="265176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36118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7C3AED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Segoe UI"/>
              </a:rPr>
              <a:t>étudiants
ingénieurs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11914632" cy="254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403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Bilan &amp; enseignements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Segoe UI"/>
              </a:rPr>
              <a:t>Ce qu'on a appris, ce qu'on ferait différemment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49240" cy="50292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8100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Segoe UI"/>
              </a:rPr>
              <a:t>✅  Ce qui a bien marché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7315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Découpage en bounded contexts très naturel une fois
que chaque service a un propriétaire dans l'équipe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67128"/>
            <a:ext cx="7315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6712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La gateway comme seul validateur JWT simplifie
considérablement les services downstream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34056"/>
            <a:ext cx="7315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34056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Docker Compose avec healthchecks → zero surprise
lors des intégrations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00984"/>
            <a:ext cx="7315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00984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TanStack Query + Zustand → état front prévisible
et clair sans boilerplate Redux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67912"/>
            <a:ext cx="7315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67912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Flyway → migrations versionnées, aucun conflit de
schéma entre branches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34840"/>
            <a:ext cx="7315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34840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Le compte unifié évite la gestion de rôles complexe
tout en couvrant tous les use cases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143000"/>
            <a:ext cx="5349240" cy="50292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143000"/>
            <a:ext cx="38100" cy="502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188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💡  Ce qu'on ferait différemment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600200"/>
            <a:ext cx="7315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600200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Générer les types TypeScript automatiquement
depuis les specs OpenAPI de chaque 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167128"/>
            <a:ext cx="7315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16712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Adopter RS256 (clé asymétrique) pour le JWT
dès le début plutôt que HS256 partagé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734056"/>
            <a:ext cx="7315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734056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Ajouter OpenTelemetry + Jaeger dès les premiers
services — le debug distributed est difficile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300984"/>
            <a:ext cx="7315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300984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Introduire un message broker (RabbitMQ) pour les
notifications — découplage naturel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3867912"/>
            <a:ext cx="7315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867912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Cookies HttpOnly pour les tokens dès le départ,
pas de localStorage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434840"/>
            <a:ext cx="7315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434840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  <a:latin typeface="Segoe UI"/>
              </a:rPr>
              <a:t>Un vrai CI/CD (GitHub Actions) avec build
autonome à chaque PR sur develop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99832" y="0"/>
            <a:ext cx="4389120" cy="6858000"/>
          </a:xfrm>
          <a:prstGeom prst="rect">
            <a:avLst/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99832" y="0"/>
            <a:ext cx="25400" cy="68580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91840"/>
            <a:ext cx="7799832" cy="25400"/>
          </a:xfrm>
          <a:prstGeom prst="rect">
            <a:avLst/>
          </a:prstGeom>
          <a:solidFill>
            <a:srgbClr val="38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Segoe UI"/>
              </a:rPr>
              <a:t>Merci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BD5E1"/>
                </a:solidFill>
                <a:latin typeface="Segoe UI"/>
              </a:rPr>
              <a:t>Des questions 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01568"/>
            <a:ext cx="1371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74152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89BFF"/>
                </a:solidFill>
                <a:latin typeface="Segoe UI"/>
              </a:rPr>
              <a:t>📁  github.com/UgoDurand/Loxia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2011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📖  docs/architecture.md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5603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0B981"/>
                </a:solidFill>
                <a:latin typeface="Segoe UI"/>
              </a:rPr>
              <a:t>🐳  docker compose up --build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035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Segoe UI"/>
              </a:rPr>
              <a:t>Ugo · Jonas · Nicolas · Cyril · Ibrahim · Tarek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